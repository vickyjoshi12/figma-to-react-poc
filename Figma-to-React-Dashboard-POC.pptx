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73968" cy="0"/>
          </a:xfrm>
          <a:prstGeom prst="line">
            <a:avLst/>
          </a:prstGeom>
          <a:noFill/>
          <a:ln w="10160">
            <a:solidFill>
              <a:srgbClr val="E4E7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83680"/>
            <a:ext cx="4937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7881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FIGMA → REACT  /  DASHBOARD POC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0" y="658368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80" kern="0" dirty="0">
                <a:solidFill>
                  <a:srgbClr val="7881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BUILD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igma.com/design/G4D4tulIug9IkYjlNuPZHU/Dashboard--Community-?node-id=0-61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igma.com/design/G4D4tulIug9IkYjlNuPZHU/Dashboard--Community-?node-id=0-61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914400"/>
            <a:ext cx="4389120" cy="4389120"/>
          </a:xfrm>
          <a:prstGeom prst="ellipse">
            <a:avLst/>
          </a:prstGeom>
          <a:solidFill>
            <a:srgbClr val="252E5D">
              <a:alpha val="82000"/>
            </a:srgbClr>
          </a:solidFill>
          <a:ln w="12700">
            <a:solidFill>
              <a:srgbClr val="252E5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137160"/>
            <a:ext cx="2651760" cy="2651760"/>
          </a:xfrm>
          <a:prstGeom prst="ellipse">
            <a:avLst/>
          </a:prstGeom>
          <a:solidFill>
            <a:srgbClr val="5A67BA">
              <a:alpha val="72000"/>
            </a:srgbClr>
          </a:solidFill>
          <a:ln w="12700">
            <a:solidFill>
              <a:srgbClr val="5A67B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822960"/>
            <a:ext cx="1234440" cy="1234440"/>
          </a:xfrm>
          <a:prstGeom prst="ellipse">
            <a:avLst/>
          </a:prstGeom>
          <a:solidFill>
            <a:srgbClr val="C6C6F7">
              <a:alpha val="92000"/>
            </a:srgbClr>
          </a:solidFill>
          <a:ln w="12700">
            <a:solidFill>
              <a:srgbClr val="C6C6F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640080"/>
            <a:ext cx="2514600" cy="347472"/>
          </a:xfrm>
          <a:prstGeom prst="roundRect">
            <a:avLst>
              <a:gd name="adj" fmla="val 31579"/>
            </a:avLst>
          </a:prstGeom>
          <a:solidFill>
            <a:srgbClr val="252E46"/>
          </a:solidFill>
          <a:ln w="12700">
            <a:solidFill>
              <a:srgbClr val="252E46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653796"/>
            <a:ext cx="2368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C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POC  •  AI-ASSISTED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14173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Figma\nto React</a:t>
            </a:r>
            <a:endParaRPr lang="en-US" sz="4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246120"/>
            <a:ext cx="6583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6CF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story of turning a dashboard design into a maintainable, data-driven front-end.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5166360"/>
            <a:ext cx="2514600" cy="713232"/>
          </a:xfrm>
          <a:prstGeom prst="roundRect">
            <a:avLst>
              <a:gd name="adj" fmla="val 17949"/>
            </a:avLst>
          </a:prstGeom>
          <a:solidFill>
            <a:srgbClr val="1B2940"/>
          </a:solidFill>
          <a:ln w="8890">
            <a:solidFill>
              <a:srgbClr val="3141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52852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FIGMA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5550408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9BAA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SOURCE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547872" y="5166360"/>
            <a:ext cx="2514600" cy="713232"/>
          </a:xfrm>
          <a:prstGeom prst="roundRect">
            <a:avLst>
              <a:gd name="adj" fmla="val 17949"/>
            </a:avLst>
          </a:prstGeom>
          <a:solidFill>
            <a:srgbClr val="1B2940"/>
          </a:solidFill>
          <a:ln w="8890">
            <a:solidFill>
              <a:srgbClr val="3141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712464" y="52852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+ MCP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12464" y="5550408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9BAA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BUILD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364224" y="5166360"/>
            <a:ext cx="2514600" cy="713232"/>
          </a:xfrm>
          <a:prstGeom prst="roundRect">
            <a:avLst>
              <a:gd name="adj" fmla="val 17949"/>
            </a:avLst>
          </a:prstGeom>
          <a:solidFill>
            <a:srgbClr val="1B2940"/>
          </a:solidFill>
          <a:ln w="8890">
            <a:solidFill>
              <a:srgbClr val="3141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28816" y="52852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+ TS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28816" y="5550408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9BAA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180576" y="5166360"/>
            <a:ext cx="2514600" cy="713232"/>
          </a:xfrm>
          <a:prstGeom prst="roundRect">
            <a:avLst>
              <a:gd name="adj" fmla="val 17949"/>
            </a:avLst>
          </a:prstGeom>
          <a:solidFill>
            <a:srgbClr val="1B2940"/>
          </a:solidFill>
          <a:ln w="8890">
            <a:solidFill>
              <a:srgbClr val="31415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45168" y="52852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345168" y="5550408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9BAA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BRANCH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624535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BAA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POC  •  1440 × 960 desktop target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THE MISSION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a screenshot — a working interface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252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was to translate visual intent into a small, understandable React system.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4709160" cy="4343400"/>
          </a:xfrm>
          <a:prstGeom prst="roundRect">
            <a:avLst>
              <a:gd name="adj" fmla="val 3368"/>
            </a:avLst>
          </a:prstGeom>
          <a:solidFill>
            <a:srgbClr val="1F384C"/>
          </a:solidFill>
          <a:ln w="8890">
            <a:solidFill>
              <a:srgbClr val="1F384C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2084832"/>
            <a:ext cx="1115568" cy="292608"/>
          </a:xfrm>
          <a:prstGeom prst="roundRect">
            <a:avLst>
              <a:gd name="adj" fmla="val 37500"/>
            </a:avLst>
          </a:prstGeom>
          <a:solidFill>
            <a:srgbClr val="344B67"/>
          </a:solidFill>
          <a:ln w="12700">
            <a:solidFill>
              <a:srgbClr val="344B6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2688" y="2098548"/>
            <a:ext cx="9692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5D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POC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67004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the design\nimplementable.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384048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1D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Figma as the source of visual truth, while keeping data access, UI composition, and chart rendering separate.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77824" y="51389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AEBD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=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77824" y="54223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structure + maintainable boundaries + verified layout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1828800"/>
            <a:ext cx="384048" cy="301752"/>
          </a:xfrm>
          <a:prstGeom prst="roundRect">
            <a:avLst>
              <a:gd name="adj" fmla="val 36364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88152" y="1842516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181051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Faithful composition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72784" y="2121408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layout, visible content, chart character, and image assets.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15000" y="2816352"/>
            <a:ext cx="384048" cy="301752"/>
          </a:xfrm>
          <a:prstGeom prst="roundRect">
            <a:avLst>
              <a:gd name="adj" fmla="val 36364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88152" y="2830068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272784" y="27980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Sound architecture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72784" y="3108960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Feature-oriented React; shared types; service and hook boundaries.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15000" y="3803904"/>
            <a:ext cx="384048" cy="301752"/>
          </a:xfrm>
          <a:prstGeom prst="roundRect">
            <a:avLst>
              <a:gd name="adj" fmla="val 36364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88152" y="38176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272784" y="37856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data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272784" y="4096512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sample values where the design shows shape but not source data.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15000" y="4791456"/>
            <a:ext cx="384048" cy="301752"/>
          </a:xfrm>
          <a:prstGeom prst="roundRect">
            <a:avLst>
              <a:gd name="adj" fmla="val 36364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88152" y="4805172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272784" y="47731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quality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272784" y="5084064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lint, browser render, panel dimensions, and overflow checks.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THE JOURNEY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staged workflow reduced guesswork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252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phase produced an artifact the next phase could trust.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828800"/>
            <a:ext cx="356616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975104"/>
            <a:ext cx="310896" cy="274320"/>
          </a:xfrm>
          <a:prstGeom prst="roundRect">
            <a:avLst>
              <a:gd name="adj" fmla="val 400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988820"/>
            <a:ext cx="164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97510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Figma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350008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frame, nodes, styles, assets, and visible content.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182112"/>
            <a:ext cx="3200400" cy="292608"/>
          </a:xfrm>
          <a:prstGeom prst="roundRect">
            <a:avLst>
              <a:gd name="adj" fmla="val 375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" y="3195828"/>
            <a:ext cx="3054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 establish evidence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356616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1975104"/>
            <a:ext cx="310896" cy="274320"/>
          </a:xfrm>
          <a:prstGeom prst="roundRect">
            <a:avLst>
              <a:gd name="adj" fmla="val 400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0016" y="1988820"/>
            <a:ext cx="164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5010912" y="197510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contract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45152" y="2350008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dimensions, confirmed values, and unknowns.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36008" y="3182112"/>
            <a:ext cx="3200400" cy="292608"/>
          </a:xfrm>
          <a:prstGeom prst="roundRect">
            <a:avLst>
              <a:gd name="adj" fmla="val 375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3195828"/>
            <a:ext cx="3054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 stop assumptions spreading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339328" y="1828800"/>
            <a:ext cx="356616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5632" y="1975104"/>
            <a:ext cx="310896" cy="274320"/>
          </a:xfrm>
          <a:prstGeom prst="roundRect">
            <a:avLst>
              <a:gd name="adj" fmla="val 400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58784" y="1988820"/>
            <a:ext cx="164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0" y="197510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 architecture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503920" y="2350008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 feature, UI, data, services, hooks, and types.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94776" y="3182112"/>
            <a:ext cx="3200400" cy="292608"/>
          </a:xfrm>
          <a:prstGeom prst="roundRect">
            <a:avLst>
              <a:gd name="adj" fmla="val 375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67928" y="3195828"/>
            <a:ext cx="3054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 preserve changeability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1792" y="3657600"/>
            <a:ext cx="356616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" y="3803904"/>
            <a:ext cx="310896" cy="274320"/>
          </a:xfrm>
          <a:prstGeom prst="roundRect">
            <a:avLst>
              <a:gd name="adj" fmla="val 400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" y="3817620"/>
            <a:ext cx="164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380390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data layer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" y="4178808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contracts and illustrative mock data behind service.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7240" y="5010912"/>
            <a:ext cx="3200400" cy="292608"/>
          </a:xfrm>
          <a:prstGeom prst="roundRect">
            <a:avLst>
              <a:gd name="adj" fmla="val 3750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0392" y="5024628"/>
            <a:ext cx="3054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9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 keep UI data-agnostic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80560" y="3657600"/>
            <a:ext cx="356616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26864" y="3803904"/>
            <a:ext cx="310896" cy="274320"/>
          </a:xfrm>
          <a:prstGeom prst="roundRect">
            <a:avLst>
              <a:gd name="adj" fmla="val 400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00016" y="3817620"/>
            <a:ext cx="164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010912" y="380390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UI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645152" y="4178808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Shell → panels → local chart components.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36008" y="5010912"/>
            <a:ext cx="3200400" cy="292608"/>
          </a:xfrm>
          <a:prstGeom prst="roundRect">
            <a:avLst>
              <a:gd name="adj" fmla="val 3750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09160" y="5024628"/>
            <a:ext cx="3054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9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 validate layout incrementally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339328" y="3657600"/>
            <a:ext cx="356616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85632" y="3803904"/>
            <a:ext cx="310896" cy="274320"/>
          </a:xfrm>
          <a:prstGeom prst="roundRect">
            <a:avLst>
              <a:gd name="adj" fmla="val 400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58784" y="3817620"/>
            <a:ext cx="1645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8869680" y="3803904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&amp; publish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503920" y="4178808"/>
            <a:ext cx="32369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lint, browser-measure, fix; push develop.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494776" y="5010912"/>
            <a:ext cx="3200400" cy="292608"/>
          </a:xfrm>
          <a:prstGeom prst="roundRect">
            <a:avLst>
              <a:gd name="adj" fmla="val 37500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567928" y="5024628"/>
            <a:ext cx="3054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9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 prove it works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21792" y="5687568"/>
            <a:ext cx="11247120" cy="438912"/>
          </a:xfrm>
          <a:prstGeom prst="roundRect">
            <a:avLst>
              <a:gd name="adj" fmla="val 25000"/>
            </a:avLst>
          </a:prstGeom>
          <a:solidFill>
            <a:srgbClr val="EEF0FF"/>
          </a:solidFill>
          <a:ln w="889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04672" y="5788152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WHEN: one phase at a time  •  WHY: reduce rework  •  OUTPUT: traceable decisions and working checkpoints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DESIGN TRANSLATION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Figma frame became a measurable layout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252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visual constraints were translated into grid tracks and bounded panel regions.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6537960" cy="44805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933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1440 × 960  /  DESKTOP REFERENCE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2450592"/>
            <a:ext cx="987552" cy="3310128"/>
          </a:xfrm>
          <a:prstGeom prst="rect">
            <a:avLst/>
          </a:prstGeom>
          <a:solidFill>
            <a:srgbClr val="F1F2F7"/>
          </a:solidFill>
          <a:ln w="12700">
            <a:solidFill>
              <a:srgbClr val="F1F2F7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776472"/>
            <a:ext cx="804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SIDEBAR\n240 px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56232" y="2450592"/>
            <a:ext cx="4928616" cy="365760"/>
          </a:xfrm>
          <a:prstGeom prst="rect">
            <a:avLst/>
          </a:prstGeom>
          <a:solidFill>
            <a:srgbClr val="F6F6FB"/>
          </a:solidFill>
          <a:ln w="7620">
            <a:solidFill>
              <a:srgbClr val="E4E7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20824" y="2542032"/>
            <a:ext cx="4599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+ ACCOUNT BAR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39112" y="3054096"/>
            <a:ext cx="2920228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8890">
            <a:solidFill>
              <a:srgbClr val="DCE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69068" y="3054096"/>
            <a:ext cx="1532900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8890">
            <a:solidFill>
              <a:srgbClr val="DCE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57984" y="3145536"/>
            <a:ext cx="26824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176272" y="3522269"/>
            <a:ext cx="2645908" cy="0"/>
          </a:xfrm>
          <a:prstGeom prst="line">
            <a:avLst/>
          </a:prstGeom>
          <a:noFill/>
          <a:ln w="8890">
            <a:solidFill>
              <a:srgbClr val="E8EAF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176272" y="3642970"/>
            <a:ext cx="2645908" cy="0"/>
          </a:xfrm>
          <a:prstGeom prst="line">
            <a:avLst/>
          </a:prstGeom>
          <a:noFill/>
          <a:ln w="8890">
            <a:solidFill>
              <a:srgbClr val="E8EAF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176272" y="3763670"/>
            <a:ext cx="2645908" cy="0"/>
          </a:xfrm>
          <a:prstGeom prst="line">
            <a:avLst/>
          </a:prstGeom>
          <a:noFill/>
          <a:ln w="8890">
            <a:solidFill>
              <a:srgbClr val="E8EAF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176272" y="3884371"/>
            <a:ext cx="2645908" cy="0"/>
          </a:xfrm>
          <a:prstGeom prst="line">
            <a:avLst/>
          </a:prstGeom>
          <a:noFill/>
          <a:ln w="8890">
            <a:solidFill>
              <a:srgbClr val="E8EAF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316754" y="3789621"/>
            <a:ext cx="68580" cy="215451"/>
          </a:xfrm>
          <a:prstGeom prst="rect">
            <a:avLst/>
          </a:prstGeom>
          <a:solidFill>
            <a:srgbClr val="5A67BA"/>
          </a:solidFill>
          <a:ln w="12700">
            <a:solidFill>
              <a:srgbClr val="5A67B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08194" y="3871698"/>
            <a:ext cx="68580" cy="133374"/>
          </a:xfrm>
          <a:prstGeom prst="rect">
            <a:avLst/>
          </a:prstGeom>
          <a:solidFill>
            <a:srgbClr val="E1E3E8"/>
          </a:solidFill>
          <a:ln w="12700">
            <a:solidFill>
              <a:srgbClr val="E1E3E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57739" y="3851178"/>
            <a:ext cx="68580" cy="153894"/>
          </a:xfrm>
          <a:prstGeom prst="rect">
            <a:avLst/>
          </a:prstGeom>
          <a:solidFill>
            <a:srgbClr val="5A67BA"/>
          </a:solidFill>
          <a:ln w="12700">
            <a:solidFill>
              <a:srgbClr val="5A67B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49179" y="3671636"/>
            <a:ext cx="68580" cy="333436"/>
          </a:xfrm>
          <a:prstGeom prst="rect">
            <a:avLst/>
          </a:prstGeom>
          <a:solidFill>
            <a:srgbClr val="E1E3E8"/>
          </a:solidFill>
          <a:ln w="12700">
            <a:solidFill>
              <a:srgbClr val="E1E3E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98724" y="3615208"/>
            <a:ext cx="68580" cy="389864"/>
          </a:xfrm>
          <a:prstGeom prst="rect">
            <a:avLst/>
          </a:prstGeom>
          <a:solidFill>
            <a:srgbClr val="5A67BA"/>
          </a:solidFill>
          <a:ln w="12700">
            <a:solidFill>
              <a:srgbClr val="5A67B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0164" y="3830659"/>
            <a:ext cx="68580" cy="174413"/>
          </a:xfrm>
          <a:prstGeom prst="rect">
            <a:avLst/>
          </a:prstGeom>
          <a:solidFill>
            <a:srgbClr val="E1E3E8"/>
          </a:solidFill>
          <a:ln w="12700">
            <a:solidFill>
              <a:srgbClr val="E1E3E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39708" y="3671636"/>
            <a:ext cx="68580" cy="333436"/>
          </a:xfrm>
          <a:prstGeom prst="rect">
            <a:avLst/>
          </a:prstGeom>
          <a:solidFill>
            <a:srgbClr val="5A67BA"/>
          </a:solidFill>
          <a:ln w="12700">
            <a:solidFill>
              <a:srgbClr val="5A67B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31148" y="3717804"/>
            <a:ext cx="68580" cy="287268"/>
          </a:xfrm>
          <a:prstGeom prst="rect">
            <a:avLst/>
          </a:prstGeom>
          <a:solidFill>
            <a:srgbClr val="E1E3E8"/>
          </a:solidFill>
          <a:ln w="12700">
            <a:solidFill>
              <a:srgbClr val="E1E3E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80693" y="3758842"/>
            <a:ext cx="68580" cy="246230"/>
          </a:xfrm>
          <a:prstGeom prst="rect">
            <a:avLst/>
          </a:prstGeom>
          <a:solidFill>
            <a:srgbClr val="5A67BA"/>
          </a:solidFill>
          <a:ln w="12700">
            <a:solidFill>
              <a:srgbClr val="5A67B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72133" y="3840919"/>
            <a:ext cx="68580" cy="164153"/>
          </a:xfrm>
          <a:prstGeom prst="rect">
            <a:avLst/>
          </a:prstGeom>
          <a:solidFill>
            <a:srgbClr val="E1E3E8"/>
          </a:solidFill>
          <a:ln w="12700">
            <a:solidFill>
              <a:srgbClr val="E1E3E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1678" y="3553651"/>
            <a:ext cx="68580" cy="451421"/>
          </a:xfrm>
          <a:prstGeom prst="rect">
            <a:avLst/>
          </a:prstGeom>
          <a:solidFill>
            <a:srgbClr val="5A67BA"/>
          </a:solidFill>
          <a:ln w="12700">
            <a:solidFill>
              <a:srgbClr val="5A67B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3118" y="3789621"/>
            <a:ext cx="68580" cy="215451"/>
          </a:xfrm>
          <a:prstGeom prst="rect">
            <a:avLst/>
          </a:prstGeom>
          <a:solidFill>
            <a:srgbClr val="E1E3E8"/>
          </a:solidFill>
          <a:ln w="12700">
            <a:solidFill>
              <a:srgbClr val="E1E3E8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178796" y="3145536"/>
            <a:ext cx="13134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TIME</a:t>
            </a:r>
            <a:endParaRPr lang="en-US" sz="8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33182" y="3346704"/>
            <a:ext cx="804672" cy="804672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5524622" y="363931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800" dirty="0"/>
          </a:p>
        </p:txBody>
      </p:sp>
      <p:sp>
        <p:nvSpPr>
          <p:cNvPr id="33" name="Text 30"/>
          <p:cNvSpPr txBox="1"/>
          <p:nvPr/>
        </p:nvSpPr>
        <p:spPr>
          <a:xfrm>
            <a:off x="5524622" y="380390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2039112" y="4407408"/>
            <a:ext cx="144780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8890">
            <a:solidFill>
              <a:srgbClr val="DCE1E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130552" y="4517136"/>
            <a:ext cx="126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RATING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2276856" y="4910328"/>
            <a:ext cx="521208" cy="521208"/>
          </a:xfrm>
          <a:prstGeom prst="ellipse">
            <a:avLst/>
          </a:prstGeom>
          <a:solidFill>
            <a:srgbClr val="8583E8"/>
          </a:solidFill>
          <a:ln w="12700">
            <a:solidFill>
              <a:srgbClr val="8583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359152" y="5084064"/>
            <a:ext cx="356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85%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596640" y="4407408"/>
            <a:ext cx="144780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8890">
            <a:solidFill>
              <a:srgbClr val="DCE1E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688080" y="4517136"/>
            <a:ext cx="126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ORDERED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3706368" y="4828032"/>
            <a:ext cx="100584" cy="100584"/>
          </a:xfrm>
          <a:prstGeom prst="ellipse">
            <a:avLst/>
          </a:prstGeom>
          <a:solidFill>
            <a:srgbClr val="B4C0A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870960" y="4873752"/>
            <a:ext cx="1063752" cy="0"/>
          </a:xfrm>
          <a:prstGeom prst="line">
            <a:avLst/>
          </a:prstGeom>
          <a:noFill/>
          <a:ln w="12700">
            <a:solidFill>
              <a:srgbClr val="E7EAF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706368" y="5020056"/>
            <a:ext cx="100584" cy="100584"/>
          </a:xfrm>
          <a:prstGeom prst="ellipse">
            <a:avLst/>
          </a:prstGeom>
          <a:solidFill>
            <a:srgbClr val="C9A9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870960" y="5065776"/>
            <a:ext cx="1063752" cy="0"/>
          </a:xfrm>
          <a:prstGeom prst="line">
            <a:avLst/>
          </a:prstGeom>
          <a:noFill/>
          <a:ln w="12700">
            <a:solidFill>
              <a:srgbClr val="E7EAF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706368" y="5212080"/>
            <a:ext cx="100584" cy="100584"/>
          </a:xfrm>
          <a:prstGeom prst="ellipse">
            <a:avLst/>
          </a:prstGeom>
          <a:solidFill>
            <a:srgbClr val="E2C8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870960" y="5257800"/>
            <a:ext cx="1063752" cy="0"/>
          </a:xfrm>
          <a:prstGeom prst="line">
            <a:avLst/>
          </a:prstGeom>
          <a:noFill/>
          <a:ln w="12700">
            <a:solidFill>
              <a:srgbClr val="E7EAF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154168" y="4407408"/>
            <a:ext cx="1447800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8890">
            <a:solidFill>
              <a:srgbClr val="DCE1E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245608" y="4517136"/>
            <a:ext cx="126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263896" y="4921758"/>
            <a:ext cx="1228344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dash"/>
          </a:ln>
        </p:spPr>
      </p:sp>
      <p:sp>
        <p:nvSpPr>
          <p:cNvPr id="49" name="Shape 46"/>
          <p:cNvSpPr/>
          <p:nvPr/>
        </p:nvSpPr>
        <p:spPr>
          <a:xfrm>
            <a:off x="5263896" y="5052060"/>
            <a:ext cx="1228344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dash"/>
          </a:ln>
        </p:spPr>
      </p:sp>
      <p:sp>
        <p:nvSpPr>
          <p:cNvPr id="50" name="Shape 47"/>
          <p:cNvSpPr/>
          <p:nvPr/>
        </p:nvSpPr>
        <p:spPr>
          <a:xfrm>
            <a:off x="5263896" y="5182362"/>
            <a:ext cx="1228344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dash"/>
          </a:ln>
        </p:spPr>
      </p:sp>
      <p:sp>
        <p:nvSpPr>
          <p:cNvPr id="51" name="Shape 48"/>
          <p:cNvSpPr/>
          <p:nvPr/>
        </p:nvSpPr>
        <p:spPr>
          <a:xfrm>
            <a:off x="5263896" y="5312664"/>
            <a:ext cx="1228344" cy="0"/>
          </a:xfrm>
          <a:prstGeom prst="line">
            <a:avLst/>
          </a:prstGeom>
          <a:noFill/>
          <a:ln w="10160">
            <a:solidFill>
              <a:srgbClr val="E1E5E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373624" y="5041636"/>
            <a:ext cx="201778" cy="-119878"/>
          </a:xfrm>
          <a:prstGeom prst="line">
            <a:avLst/>
          </a:prstGeom>
          <a:noFill/>
          <a:ln w="22860">
            <a:solidFill>
              <a:srgbClr val="E1E3E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5575402" y="4921758"/>
            <a:ext cx="201778" cy="208483"/>
          </a:xfrm>
          <a:prstGeom prst="line">
            <a:avLst/>
          </a:prstGeom>
          <a:noFill/>
          <a:ln w="22860">
            <a:solidFill>
              <a:srgbClr val="E1E3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777179" y="5130241"/>
            <a:ext cx="201778" cy="-187635"/>
          </a:xfrm>
          <a:prstGeom prst="line">
            <a:avLst/>
          </a:prstGeom>
          <a:noFill/>
          <a:ln w="22860">
            <a:solidFill>
              <a:srgbClr val="E1E3E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978957" y="4942606"/>
            <a:ext cx="201778" cy="72969"/>
          </a:xfrm>
          <a:prstGeom prst="line">
            <a:avLst/>
          </a:prstGeom>
          <a:noFill/>
          <a:ln w="22860">
            <a:solidFill>
              <a:srgbClr val="E1E3E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180734" y="5015575"/>
            <a:ext cx="201778" cy="-46909"/>
          </a:xfrm>
          <a:prstGeom prst="line">
            <a:avLst/>
          </a:prstGeom>
          <a:noFill/>
          <a:ln w="22860">
            <a:solidFill>
              <a:srgbClr val="E1E3E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373624" y="5104181"/>
            <a:ext cx="201778" cy="78181"/>
          </a:xfrm>
          <a:prstGeom prst="line">
            <a:avLst/>
          </a:prstGeom>
          <a:noFill/>
          <a:ln w="27940">
            <a:solidFill>
              <a:srgbClr val="5A67B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5575402" y="5182362"/>
            <a:ext cx="201778" cy="-192847"/>
          </a:xfrm>
          <a:prstGeom prst="line">
            <a:avLst/>
          </a:prstGeom>
          <a:noFill/>
          <a:ln w="27940">
            <a:solidFill>
              <a:srgbClr val="5A67BA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777179" y="4989515"/>
            <a:ext cx="201778" cy="26060"/>
          </a:xfrm>
          <a:prstGeom prst="line">
            <a:avLst/>
          </a:prstGeom>
          <a:noFill/>
          <a:ln w="27940">
            <a:solidFill>
              <a:srgbClr val="5A67BA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978957" y="5015575"/>
            <a:ext cx="201778" cy="104242"/>
          </a:xfrm>
          <a:prstGeom prst="line">
            <a:avLst/>
          </a:prstGeom>
          <a:noFill/>
          <a:ln w="27940">
            <a:solidFill>
              <a:srgbClr val="5A67BA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6180734" y="5119817"/>
            <a:ext cx="201778" cy="-265816"/>
          </a:xfrm>
          <a:prstGeom prst="line">
            <a:avLst/>
          </a:prstGeom>
          <a:noFill/>
          <a:ln w="27940">
            <a:solidFill>
              <a:srgbClr val="5A67B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5218176" y="540410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A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63" name="Text 60"/>
          <p:cNvSpPr txBox="1"/>
          <p:nvPr/>
        </p:nvSpPr>
        <p:spPr>
          <a:xfrm>
            <a:off x="5419954" y="540410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A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64" name="Text 61"/>
          <p:cNvSpPr txBox="1"/>
          <p:nvPr/>
        </p:nvSpPr>
        <p:spPr>
          <a:xfrm>
            <a:off x="5621731" y="540410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A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65" name="Text 62"/>
          <p:cNvSpPr txBox="1"/>
          <p:nvPr/>
        </p:nvSpPr>
        <p:spPr>
          <a:xfrm>
            <a:off x="5823509" y="540410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A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66" name="Text 63"/>
          <p:cNvSpPr txBox="1"/>
          <p:nvPr/>
        </p:nvSpPr>
        <p:spPr>
          <a:xfrm>
            <a:off x="6025286" y="540410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A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6227064" y="5404104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A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7452360" y="1920240"/>
            <a:ext cx="1408176" cy="329184"/>
          </a:xfrm>
          <a:prstGeom prst="roundRect">
            <a:avLst>
              <a:gd name="adj" fmla="val 33333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7525512" y="1933956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240 px</a:t>
            </a:r>
            <a:endParaRPr lang="en-US" sz="900" dirty="0"/>
          </a:p>
        </p:txBody>
      </p:sp>
      <p:sp>
        <p:nvSpPr>
          <p:cNvPr id="70" name="Text 67"/>
          <p:cNvSpPr txBox="1"/>
          <p:nvPr/>
        </p:nvSpPr>
        <p:spPr>
          <a:xfrm>
            <a:off x="9098280" y="19568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 width</a:t>
            </a:r>
            <a:endParaRPr lang="en-US" sz="1200" dirty="0"/>
          </a:p>
        </p:txBody>
      </p:sp>
      <p:sp>
        <p:nvSpPr>
          <p:cNvPr id="71" name="Shape 68"/>
          <p:cNvSpPr/>
          <p:nvPr/>
        </p:nvSpPr>
        <p:spPr>
          <a:xfrm>
            <a:off x="7452360" y="2889504"/>
            <a:ext cx="1408176" cy="329184"/>
          </a:xfrm>
          <a:prstGeom prst="roundRect">
            <a:avLst>
              <a:gd name="adj" fmla="val 33333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525512" y="2903220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678 × 322</a:t>
            </a:r>
            <a:endParaRPr lang="en-US" sz="900" dirty="0"/>
          </a:p>
        </p:txBody>
      </p:sp>
      <p:sp>
        <p:nvSpPr>
          <p:cNvPr id="73" name="Text 70"/>
          <p:cNvSpPr txBox="1"/>
          <p:nvPr/>
        </p:nvSpPr>
        <p:spPr>
          <a:xfrm>
            <a:off x="9098280" y="2926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panel</a:t>
            </a:r>
            <a:endParaRPr lang="en-US" sz="1200" dirty="0"/>
          </a:p>
        </p:txBody>
      </p:sp>
      <p:sp>
        <p:nvSpPr>
          <p:cNvPr id="74" name="Shape 71"/>
          <p:cNvSpPr/>
          <p:nvPr/>
        </p:nvSpPr>
        <p:spPr>
          <a:xfrm>
            <a:off x="7452360" y="3858768"/>
            <a:ext cx="1408176" cy="329184"/>
          </a:xfrm>
          <a:prstGeom prst="roundRect">
            <a:avLst>
              <a:gd name="adj" fmla="val 33333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7525512" y="3872484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362 × 322</a:t>
            </a:r>
            <a:endParaRPr lang="en-US" sz="900" dirty="0"/>
          </a:p>
        </p:txBody>
      </p:sp>
      <p:sp>
        <p:nvSpPr>
          <p:cNvPr id="76" name="Text 73"/>
          <p:cNvSpPr txBox="1"/>
          <p:nvPr/>
        </p:nvSpPr>
        <p:spPr>
          <a:xfrm>
            <a:off x="9098280" y="38953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Time / Order</a:t>
            </a:r>
            <a:endParaRPr lang="en-US" sz="1200" dirty="0"/>
          </a:p>
        </p:txBody>
      </p:sp>
      <p:sp>
        <p:nvSpPr>
          <p:cNvPr id="77" name="Shape 74"/>
          <p:cNvSpPr/>
          <p:nvPr/>
        </p:nvSpPr>
        <p:spPr>
          <a:xfrm>
            <a:off x="7452360" y="4828032"/>
            <a:ext cx="1408176" cy="329184"/>
          </a:xfrm>
          <a:prstGeom prst="roundRect">
            <a:avLst>
              <a:gd name="adj" fmla="val 33333"/>
            </a:avLst>
          </a:prstGeom>
          <a:solidFill>
            <a:srgbClr val="FFF4E5"/>
          </a:solidFill>
          <a:ln w="12700">
            <a:solidFill>
              <a:srgbClr val="FFF4E5">
                <a:alpha val="0"/>
              </a:srgbClr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7525512" y="4841748"/>
            <a:ext cx="1261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6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variants</a:t>
            </a:r>
            <a:endParaRPr lang="en-US" sz="900" dirty="0"/>
          </a:p>
        </p:txBody>
      </p:sp>
      <p:sp>
        <p:nvSpPr>
          <p:cNvPr id="79" name="Text 76"/>
          <p:cNvSpPr txBox="1"/>
          <p:nvPr/>
        </p:nvSpPr>
        <p:spPr>
          <a:xfrm>
            <a:off x="9098280" y="48646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only documented</a:t>
            </a:r>
            <a:endParaRPr lang="en-US" sz="1200" dirty="0"/>
          </a:p>
        </p:txBody>
      </p:sp>
      <p:sp>
        <p:nvSpPr>
          <p:cNvPr id="80" name="Text 77"/>
          <p:cNvSpPr txBox="1"/>
          <p:nvPr/>
        </p:nvSpPr>
        <p:spPr>
          <a:xfrm>
            <a:off x="7470648" y="580644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49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CHOICE</a:t>
            </a:r>
            <a:endParaRPr lang="en-US" sz="800" dirty="0"/>
          </a:p>
        </p:txBody>
      </p:sp>
      <p:sp>
        <p:nvSpPr>
          <p:cNvPr id="81" name="Text 78"/>
          <p:cNvSpPr txBox="1"/>
          <p:nvPr/>
        </p:nvSpPr>
        <p:spPr>
          <a:xfrm>
            <a:off x="7470648" y="60076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Grid for regions; Flexbox for rows. Keep local overlays local.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TECHNICAL ARCHITECTURE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clean data boundary kept the UI replaceable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252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data today; a real data source can replace the service without chart components importing mock values.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1874520" cy="1042416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212848"/>
            <a:ext cx="329184" cy="256032"/>
          </a:xfrm>
          <a:prstGeom prst="roundRect">
            <a:avLst>
              <a:gd name="adj" fmla="val 42857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0976" y="222656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DashboardPage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81635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Composes layout + content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24328" y="2578608"/>
            <a:ext cx="274320" cy="0"/>
          </a:xfrm>
          <a:prstGeom prst="line">
            <a:avLst/>
          </a:prstGeom>
          <a:noFill/>
          <a:ln w="17780">
            <a:solidFill>
              <a:srgbClr val="A5AE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52928" y="2496312"/>
            <a:ext cx="146304" cy="164592"/>
          </a:xfrm>
          <a:prstGeom prst="chevron">
            <a:avLst/>
          </a:prstGeom>
          <a:solidFill>
            <a:srgbClr val="A5AEC0"/>
          </a:solidFill>
          <a:ln w="12700">
            <a:solidFill>
              <a:srgbClr val="A5AEC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2057400"/>
            <a:ext cx="1874520" cy="1042416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18104" y="2212848"/>
            <a:ext cx="329184" cy="256032"/>
          </a:xfrm>
          <a:prstGeom prst="roundRect">
            <a:avLst>
              <a:gd name="adj" fmla="val 42857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91256" y="222656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11810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useDashboardData()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118104" y="281635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Hook owns loading/error state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64608" y="2578608"/>
            <a:ext cx="274320" cy="0"/>
          </a:xfrm>
          <a:prstGeom prst="line">
            <a:avLst/>
          </a:prstGeom>
          <a:noFill/>
          <a:ln w="17780">
            <a:solidFill>
              <a:srgbClr val="A5AE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3208" y="2496312"/>
            <a:ext cx="146304" cy="164592"/>
          </a:xfrm>
          <a:prstGeom prst="chevron">
            <a:avLst/>
          </a:prstGeom>
          <a:solidFill>
            <a:srgbClr val="A5AEC0"/>
          </a:solidFill>
          <a:ln w="12700">
            <a:solidFill>
              <a:srgbClr val="A5AEC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2057400"/>
            <a:ext cx="1874520" cy="1042416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58384" y="2212848"/>
            <a:ext cx="329184" cy="256032"/>
          </a:xfrm>
          <a:prstGeom prst="roundRect">
            <a:avLst>
              <a:gd name="adj" fmla="val 42857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31536" y="222656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35838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dashboardService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358384" y="281635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replacement boundary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104888" y="2578608"/>
            <a:ext cx="274320" cy="0"/>
          </a:xfrm>
          <a:prstGeom prst="line">
            <a:avLst/>
          </a:prstGeom>
          <a:noFill/>
          <a:ln w="17780">
            <a:solidFill>
              <a:srgbClr val="A5AE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33488" y="2496312"/>
            <a:ext cx="146304" cy="164592"/>
          </a:xfrm>
          <a:prstGeom prst="chevron">
            <a:avLst/>
          </a:prstGeom>
          <a:solidFill>
            <a:srgbClr val="A5AEC0"/>
          </a:solidFill>
          <a:ln w="12700">
            <a:solidFill>
              <a:srgbClr val="A5AEC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2360" y="2057400"/>
            <a:ext cx="1874520" cy="1042416"/>
          </a:xfrm>
          <a:prstGeom prst="roundRect">
            <a:avLst>
              <a:gd name="adj" fmla="val 12281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98664" y="2212848"/>
            <a:ext cx="329184" cy="256032"/>
          </a:xfrm>
          <a:prstGeom prst="roundRect">
            <a:avLst>
              <a:gd name="adj" fmla="val 42857"/>
            </a:avLst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71816" y="222656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9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59866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dashboardMockData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598664" y="281635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sample values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829800" y="2057400"/>
            <a:ext cx="1645920" cy="1042416"/>
          </a:xfrm>
          <a:prstGeom prst="roundRect">
            <a:avLst>
              <a:gd name="adj" fmla="val 12281"/>
            </a:avLst>
          </a:prstGeom>
          <a:solidFill>
            <a:srgbClr val="EEF0FF"/>
          </a:solidFill>
          <a:ln w="8890">
            <a:solidFill>
              <a:srgbClr val="DCE1F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985248" y="2359152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receives data\nthrough props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354312" y="2578608"/>
            <a:ext cx="374904" cy="0"/>
          </a:xfrm>
          <a:prstGeom prst="line">
            <a:avLst/>
          </a:prstGeom>
          <a:noFill/>
          <a:ln w="17780">
            <a:solidFill>
              <a:srgbClr val="A5AEC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83496" y="2496312"/>
            <a:ext cx="146304" cy="164592"/>
          </a:xfrm>
          <a:prstGeom prst="chevron">
            <a:avLst/>
          </a:prstGeom>
          <a:solidFill>
            <a:srgbClr val="A5AEC0"/>
          </a:solidFill>
          <a:ln w="12700">
            <a:solidFill>
              <a:srgbClr val="A5AEC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3794760"/>
            <a:ext cx="5074920" cy="204825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87552" y="40507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contract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87552" y="43616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src/types/dashboard.ts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87552" y="4727448"/>
            <a:ext cx="1298448" cy="292608"/>
          </a:xfrm>
          <a:prstGeom prst="roundRect">
            <a:avLst>
              <a:gd name="adj" fmla="val 375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60704" y="4741164"/>
            <a:ext cx="11521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RevenueData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423160" y="4727448"/>
            <a:ext cx="1645920" cy="292608"/>
          </a:xfrm>
          <a:prstGeom prst="roundRect">
            <a:avLst>
              <a:gd name="adj" fmla="val 375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496312" y="4741164"/>
            <a:ext cx="1499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OrderTimeSegment[]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206240" y="4727448"/>
            <a:ext cx="1188720" cy="292608"/>
          </a:xfrm>
          <a:prstGeom prst="roundRect">
            <a:avLst>
              <a:gd name="adj" fmla="val 375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279392" y="4741164"/>
            <a:ext cx="1042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OrdersData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987552" y="5257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 keep the service, mock data, hook, panels, and charts aligned.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3794760"/>
            <a:ext cx="5349240" cy="204825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382512" y="405079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component boundary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6382512" y="436168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passes typed props → chart renders visuals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446520" y="46908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RevenuePanel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8193024" y="46725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8595360" y="469087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RevenueBarChart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446520" y="50383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OrderTimePanel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8193024" y="50200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8595360" y="503834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OrderTimeDonutChart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6446520" y="53858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OrdersPanel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8193024" y="536752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8595360" y="538581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OrdersLineChart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UI AND VISUALIZATION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Panels own context; charts own rendering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252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Recharts is used for the three chart types; labels and legends remain part of their panels.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865376"/>
            <a:ext cx="3255264" cy="3438144"/>
          </a:xfrm>
          <a:prstGeom prst="roundRect">
            <a:avLst>
              <a:gd name="adj" fmla="val 4213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75688"/>
            <a:ext cx="1051560" cy="274320"/>
          </a:xfrm>
          <a:prstGeom prst="roundRect">
            <a:avLst>
              <a:gd name="adj" fmla="val 400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089404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05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712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Grouped bars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9536" y="3538728"/>
            <a:ext cx="2743200" cy="0"/>
          </a:xfrm>
          <a:prstGeom prst="line">
            <a:avLst/>
          </a:prstGeom>
          <a:noFill/>
          <a:ln w="8890">
            <a:solidFill>
              <a:srgbClr val="E8EAF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59536" y="3767328"/>
            <a:ext cx="2743200" cy="0"/>
          </a:xfrm>
          <a:prstGeom prst="line">
            <a:avLst/>
          </a:prstGeom>
          <a:noFill/>
          <a:ln w="8890">
            <a:solidFill>
              <a:srgbClr val="E8EAF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59536" y="3995928"/>
            <a:ext cx="2743200" cy="0"/>
          </a:xfrm>
          <a:prstGeom prst="line">
            <a:avLst/>
          </a:prstGeom>
          <a:noFill/>
          <a:ln w="8890">
            <a:solidFill>
              <a:srgbClr val="E8EAF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859536" y="4224528"/>
            <a:ext cx="2743200" cy="0"/>
          </a:xfrm>
          <a:prstGeom prst="line">
            <a:avLst/>
          </a:prstGeom>
          <a:noFill/>
          <a:ln w="8890">
            <a:solidFill>
              <a:srgbClr val="E8EAF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950976" y="4045077"/>
            <a:ext cx="68580" cy="408051"/>
          </a:xfrm>
          <a:prstGeom prst="rect">
            <a:avLst/>
          </a:prstGeom>
          <a:solidFill>
            <a:srgbClr val="5A67BA"/>
          </a:solidFill>
          <a:ln w="12700">
            <a:solidFill>
              <a:srgbClr val="5A67B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" y="4200525"/>
            <a:ext cx="68580" cy="252603"/>
          </a:xfrm>
          <a:prstGeom prst="rect">
            <a:avLst/>
          </a:prstGeom>
          <a:solidFill>
            <a:srgbClr val="E1E3E8"/>
          </a:solidFill>
          <a:ln w="12700">
            <a:solidFill>
              <a:srgbClr val="E1E3E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3876" y="4161663"/>
            <a:ext cx="68580" cy="291465"/>
          </a:xfrm>
          <a:prstGeom prst="rect">
            <a:avLst/>
          </a:prstGeom>
          <a:solidFill>
            <a:srgbClr val="5A67BA"/>
          </a:solidFill>
          <a:ln w="12700">
            <a:solidFill>
              <a:srgbClr val="5A67B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85316" y="3821621"/>
            <a:ext cx="68580" cy="631507"/>
          </a:xfrm>
          <a:prstGeom prst="rect">
            <a:avLst/>
          </a:prstGeom>
          <a:solidFill>
            <a:srgbClr val="E1E3E8"/>
          </a:solidFill>
          <a:ln w="12700">
            <a:solidFill>
              <a:srgbClr val="E1E3E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36776" y="3714750"/>
            <a:ext cx="68580" cy="738378"/>
          </a:xfrm>
          <a:prstGeom prst="rect">
            <a:avLst/>
          </a:prstGeom>
          <a:solidFill>
            <a:srgbClr val="5A67BA"/>
          </a:solidFill>
          <a:ln w="12700">
            <a:solidFill>
              <a:srgbClr val="5A67B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28216" y="4122801"/>
            <a:ext cx="68580" cy="330327"/>
          </a:xfrm>
          <a:prstGeom prst="rect">
            <a:avLst/>
          </a:prstGeom>
          <a:solidFill>
            <a:srgbClr val="E1E3E8"/>
          </a:solidFill>
          <a:ln w="12700">
            <a:solidFill>
              <a:srgbClr val="E1E3E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79676" y="3821621"/>
            <a:ext cx="68580" cy="631507"/>
          </a:xfrm>
          <a:prstGeom prst="rect">
            <a:avLst/>
          </a:prstGeom>
          <a:solidFill>
            <a:srgbClr val="5A67BA"/>
          </a:solidFill>
          <a:ln w="12700">
            <a:solidFill>
              <a:srgbClr val="5A67BA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71116" y="3909060"/>
            <a:ext cx="68580" cy="544068"/>
          </a:xfrm>
          <a:prstGeom prst="rect">
            <a:avLst/>
          </a:prstGeom>
          <a:solidFill>
            <a:srgbClr val="E1E3E8"/>
          </a:solidFill>
          <a:ln w="12700">
            <a:solidFill>
              <a:srgbClr val="E1E3E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22576" y="3986784"/>
            <a:ext cx="68580" cy="466344"/>
          </a:xfrm>
          <a:prstGeom prst="rect">
            <a:avLst/>
          </a:prstGeom>
          <a:solidFill>
            <a:srgbClr val="5A67BA"/>
          </a:solidFill>
          <a:ln w="12700">
            <a:solidFill>
              <a:srgbClr val="5A67B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14016" y="4142232"/>
            <a:ext cx="68580" cy="310896"/>
          </a:xfrm>
          <a:prstGeom prst="rect">
            <a:avLst/>
          </a:prstGeom>
          <a:solidFill>
            <a:srgbClr val="E1E3E8"/>
          </a:solidFill>
          <a:ln w="12700">
            <a:solidFill>
              <a:srgbClr val="E1E3E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65476" y="3598164"/>
            <a:ext cx="68580" cy="854964"/>
          </a:xfrm>
          <a:prstGeom prst="rect">
            <a:avLst/>
          </a:prstGeom>
          <a:solidFill>
            <a:srgbClr val="5A67BA"/>
          </a:solidFill>
          <a:ln w="12700">
            <a:solidFill>
              <a:srgbClr val="5A67BA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56916" y="4045077"/>
            <a:ext cx="68580" cy="408051"/>
          </a:xfrm>
          <a:prstGeom prst="rect">
            <a:avLst/>
          </a:prstGeom>
          <a:solidFill>
            <a:srgbClr val="E1E3E8"/>
          </a:solidFill>
          <a:ln w="12700">
            <a:solidFill>
              <a:srgbClr val="E1E3E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08376" y="3899345"/>
            <a:ext cx="68580" cy="553783"/>
          </a:xfrm>
          <a:prstGeom prst="rect">
            <a:avLst/>
          </a:prstGeom>
          <a:solidFill>
            <a:srgbClr val="5A67BA"/>
          </a:solidFill>
          <a:ln w="12700">
            <a:solidFill>
              <a:srgbClr val="5A67B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99816" y="4122801"/>
            <a:ext cx="68580" cy="330327"/>
          </a:xfrm>
          <a:prstGeom prst="rect">
            <a:avLst/>
          </a:prstGeom>
          <a:solidFill>
            <a:srgbClr val="E1E3E8"/>
          </a:solidFill>
          <a:ln w="12700">
            <a:solidFill>
              <a:srgbClr val="E1E3E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51276" y="3773043"/>
            <a:ext cx="68580" cy="680085"/>
          </a:xfrm>
          <a:prstGeom prst="rect">
            <a:avLst/>
          </a:prstGeom>
          <a:solidFill>
            <a:srgbClr val="5A67BA"/>
          </a:solidFill>
          <a:ln w="12700">
            <a:solidFill>
              <a:srgbClr val="5A67B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42716" y="3811905"/>
            <a:ext cx="68580" cy="641223"/>
          </a:xfrm>
          <a:prstGeom prst="rect">
            <a:avLst/>
          </a:prstGeom>
          <a:solidFill>
            <a:srgbClr val="E1E3E8"/>
          </a:solidFill>
          <a:ln w="12700">
            <a:solidFill>
              <a:srgbClr val="E1E3E8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47000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series • 12 labels • compact grid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62272" y="1865376"/>
            <a:ext cx="3255264" cy="3438144"/>
          </a:xfrm>
          <a:prstGeom prst="roundRect">
            <a:avLst>
              <a:gd name="adj" fmla="val 4213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075688"/>
            <a:ext cx="1051560" cy="274320"/>
          </a:xfrm>
          <a:prstGeom prst="roundRect">
            <a:avLst>
              <a:gd name="adj" fmla="val 400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36592" y="2089404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583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02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2505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Time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4663440" y="28712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Donut</a:t>
            </a:r>
            <a:endParaRPr lang="en-US" sz="10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0952" y="3127248"/>
            <a:ext cx="1517904" cy="1517904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5779008" y="3776472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5779008" y="394106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4663440" y="47000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/ 32 / 28 • hover tooltip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302752" y="1865376"/>
            <a:ext cx="3255264" cy="3438144"/>
          </a:xfrm>
          <a:prstGeom prst="roundRect">
            <a:avLst>
              <a:gd name="adj" fmla="val 4213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503920" y="2075688"/>
            <a:ext cx="1051560" cy="274320"/>
          </a:xfrm>
          <a:prstGeom prst="roundRect">
            <a:avLst>
              <a:gd name="adj" fmla="val 400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577072" y="2089404"/>
            <a:ext cx="9052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03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8503920" y="2505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8503920" y="287121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8577072" y="3621024"/>
            <a:ext cx="269748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dash"/>
          </a:ln>
        </p:spPr>
      </p:sp>
      <p:sp>
        <p:nvSpPr>
          <p:cNvPr id="46" name="Shape 43"/>
          <p:cNvSpPr/>
          <p:nvPr/>
        </p:nvSpPr>
        <p:spPr>
          <a:xfrm>
            <a:off x="8577072" y="3877056"/>
            <a:ext cx="269748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dash"/>
          </a:ln>
        </p:spPr>
      </p:sp>
      <p:sp>
        <p:nvSpPr>
          <p:cNvPr id="47" name="Shape 44"/>
          <p:cNvSpPr/>
          <p:nvPr/>
        </p:nvSpPr>
        <p:spPr>
          <a:xfrm>
            <a:off x="8577072" y="4133088"/>
            <a:ext cx="269748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dash"/>
          </a:ln>
        </p:spPr>
      </p:sp>
      <p:sp>
        <p:nvSpPr>
          <p:cNvPr id="48" name="Shape 45"/>
          <p:cNvSpPr/>
          <p:nvPr/>
        </p:nvSpPr>
        <p:spPr>
          <a:xfrm>
            <a:off x="8577072" y="4389120"/>
            <a:ext cx="2697480" cy="0"/>
          </a:xfrm>
          <a:prstGeom prst="line">
            <a:avLst/>
          </a:prstGeom>
          <a:noFill/>
          <a:ln w="10160">
            <a:solidFill>
              <a:srgbClr val="E1E5E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686800" y="3856573"/>
            <a:ext cx="495605" cy="-235549"/>
          </a:xfrm>
          <a:prstGeom prst="line">
            <a:avLst/>
          </a:prstGeom>
          <a:noFill/>
          <a:ln w="22860">
            <a:solidFill>
              <a:srgbClr val="E1E3E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9182405" y="3621024"/>
            <a:ext cx="495605" cy="409651"/>
          </a:xfrm>
          <a:prstGeom prst="line">
            <a:avLst/>
          </a:prstGeom>
          <a:noFill/>
          <a:ln w="22860">
            <a:solidFill>
              <a:srgbClr val="E1E3E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678010" y="4030675"/>
            <a:ext cx="495605" cy="-368686"/>
          </a:xfrm>
          <a:prstGeom prst="line">
            <a:avLst/>
          </a:prstGeom>
          <a:noFill/>
          <a:ln w="22860">
            <a:solidFill>
              <a:srgbClr val="E1E3E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173614" y="3661989"/>
            <a:ext cx="495605" cy="143378"/>
          </a:xfrm>
          <a:prstGeom prst="line">
            <a:avLst/>
          </a:prstGeom>
          <a:noFill/>
          <a:ln w="22860">
            <a:solidFill>
              <a:srgbClr val="E1E3E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669219" y="3805367"/>
            <a:ext cx="495605" cy="-92172"/>
          </a:xfrm>
          <a:prstGeom prst="line">
            <a:avLst/>
          </a:prstGeom>
          <a:noFill/>
          <a:ln w="22860">
            <a:solidFill>
              <a:srgbClr val="E1E3E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686800" y="3979469"/>
            <a:ext cx="495605" cy="153619"/>
          </a:xfrm>
          <a:prstGeom prst="line">
            <a:avLst/>
          </a:prstGeom>
          <a:noFill/>
          <a:ln w="27940">
            <a:solidFill>
              <a:srgbClr val="5A67BA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182405" y="4133088"/>
            <a:ext cx="495605" cy="-378927"/>
          </a:xfrm>
          <a:prstGeom prst="line">
            <a:avLst/>
          </a:prstGeom>
          <a:noFill/>
          <a:ln w="27940">
            <a:solidFill>
              <a:srgbClr val="5A67BA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678010" y="3754161"/>
            <a:ext cx="495605" cy="51206"/>
          </a:xfrm>
          <a:prstGeom prst="line">
            <a:avLst/>
          </a:prstGeom>
          <a:noFill/>
          <a:ln w="27940">
            <a:solidFill>
              <a:srgbClr val="5A67B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10173614" y="3805367"/>
            <a:ext cx="495605" cy="204826"/>
          </a:xfrm>
          <a:prstGeom prst="line">
            <a:avLst/>
          </a:prstGeom>
          <a:noFill/>
          <a:ln w="27940">
            <a:solidFill>
              <a:srgbClr val="5A67BA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10669219" y="4010193"/>
            <a:ext cx="495605" cy="-522305"/>
          </a:xfrm>
          <a:prstGeom prst="line">
            <a:avLst/>
          </a:prstGeom>
          <a:noFill/>
          <a:ln w="27940">
            <a:solidFill>
              <a:srgbClr val="5A67BA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531352" y="448056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A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60" name="Text 57"/>
          <p:cNvSpPr txBox="1"/>
          <p:nvPr/>
        </p:nvSpPr>
        <p:spPr>
          <a:xfrm>
            <a:off x="9026957" y="448056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A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61" name="Text 58"/>
          <p:cNvSpPr txBox="1"/>
          <p:nvPr/>
        </p:nvSpPr>
        <p:spPr>
          <a:xfrm>
            <a:off x="9522562" y="448056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A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10018166" y="448056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A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63" name="Text 60"/>
          <p:cNvSpPr txBox="1"/>
          <p:nvPr/>
        </p:nvSpPr>
        <p:spPr>
          <a:xfrm>
            <a:off x="10513771" y="448056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A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64" name="Text 61"/>
          <p:cNvSpPr txBox="1"/>
          <p:nvPr/>
        </p:nvSpPr>
        <p:spPr>
          <a:xfrm>
            <a:off x="11009376" y="4480560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AB1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65" name="Text 62"/>
          <p:cNvSpPr txBox="1"/>
          <p:nvPr/>
        </p:nvSpPr>
        <p:spPr>
          <a:xfrm>
            <a:off x="8503920" y="47000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series • six dates • straight paths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621792" y="5559552"/>
            <a:ext cx="10936224" cy="594360"/>
          </a:xfrm>
          <a:prstGeom prst="roundRect">
            <a:avLst>
              <a:gd name="adj" fmla="val 21538"/>
            </a:avLst>
          </a:prstGeom>
          <a:solidFill>
            <a:srgbClr val="1F384C"/>
          </a:solidFill>
          <a:ln w="8890">
            <a:solidFill>
              <a:srgbClr val="1F384C">
                <a:alpha val="0"/>
              </a:srgbClr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50392" y="57150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C6C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INTEGRITY</a:t>
            </a:r>
            <a:endParaRPr lang="en-US" sz="900" dirty="0"/>
          </a:p>
        </p:txBody>
      </p:sp>
      <p:sp>
        <p:nvSpPr>
          <p:cNvPr id="68" name="Text 65"/>
          <p:cNvSpPr txBox="1"/>
          <p:nvPr/>
        </p:nvSpPr>
        <p:spPr>
          <a:xfrm>
            <a:off x="2331720" y="5678424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shape is from Figma; chart-point values are illustrative mock data — not historical business metrics.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VERIFICATION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checked the rendered page, not just the code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252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targeted the Figma desktop composition and the actual layout constraints.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856232"/>
            <a:ext cx="2633472" cy="1161288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67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9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426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 + Vite production build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38728" y="1856232"/>
            <a:ext cx="2633472" cy="1161288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3320" y="20116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LINT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2677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9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703320" y="264261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ESLint completed successfully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58368" y="3291840"/>
            <a:ext cx="2633472" cy="1161288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4472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VIEWPORT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03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1440 × 960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0782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in browser at desktop target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38728" y="3291840"/>
            <a:ext cx="2633472" cy="1161288"/>
          </a:xfrm>
          <a:prstGeom prst="roundRect">
            <a:avLst>
              <a:gd name="adj" fmla="val 11024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03320" y="34472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OVERFLOW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3703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9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px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3703320" y="407822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scrollWidth = clientWidth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1856232"/>
            <a:ext cx="4800600" cy="4032504"/>
          </a:xfrm>
          <a:prstGeom prst="roundRect">
            <a:avLst>
              <a:gd name="adj" fmla="val 3628"/>
            </a:avLst>
          </a:prstGeom>
          <a:solidFill>
            <a:srgbClr val="1F384C"/>
          </a:solidFill>
          <a:ln w="8890">
            <a:solidFill>
              <a:srgbClr val="1F384C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59168" y="219456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C6C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GEOMETRY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077456" y="269748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1E7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45752" y="26974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678 × 322 px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86600" y="3017520"/>
            <a:ext cx="4105656" cy="0"/>
          </a:xfrm>
          <a:prstGeom prst="line">
            <a:avLst/>
          </a:prstGeom>
          <a:noFill/>
          <a:ln w="8255">
            <a:solidFill>
              <a:srgbClr val="33425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77456" y="31912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1E7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chart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445752" y="319125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678 × 141 px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86600" y="3511296"/>
            <a:ext cx="4105656" cy="0"/>
          </a:xfrm>
          <a:prstGeom prst="line">
            <a:avLst/>
          </a:prstGeom>
          <a:noFill/>
          <a:ln w="8255">
            <a:solidFill>
              <a:srgbClr val="33425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77456" y="36850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1E7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Time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445752" y="368503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362 × 322 px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86600" y="4005072"/>
            <a:ext cx="4105656" cy="0"/>
          </a:xfrm>
          <a:prstGeom prst="line">
            <a:avLst/>
          </a:prstGeom>
          <a:noFill/>
          <a:ln w="8255">
            <a:solidFill>
              <a:srgbClr val="33425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077456" y="41788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1E7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445752" y="417880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362 × 322 px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86600" y="4498848"/>
            <a:ext cx="4105656" cy="0"/>
          </a:xfrm>
          <a:prstGeom prst="line">
            <a:avLst/>
          </a:prstGeom>
          <a:noFill/>
          <a:ln w="8255">
            <a:solidFill>
              <a:srgbClr val="33425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77456" y="46725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1E7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line plot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445752" y="46725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312 × 141 px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" y="5166360"/>
            <a:ext cx="594360" cy="265176"/>
          </a:xfrm>
          <a:prstGeom prst="roundRect">
            <a:avLst>
              <a:gd name="adj" fmla="val 41379"/>
            </a:avLst>
          </a:prstGeom>
          <a:solidFill>
            <a:srgbClr val="FFF4E5"/>
          </a:solidFill>
          <a:ln w="12700">
            <a:solidFill>
              <a:srgbClr val="FFF4E5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1520" y="5180076"/>
            <a:ext cx="448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6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5513832"/>
            <a:ext cx="5440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reports a large-bundle advisory; build still succeeds. Product thumbnails are large source images and can be optimized later.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AI TOOLING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accelerated execution; evidence constrained guessing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252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tools generated and iterated code, but the workflow kept design and engineering decisions reviewable.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856232"/>
            <a:ext cx="356616" cy="274320"/>
          </a:xfrm>
          <a:prstGeom prst="roundRect">
            <a:avLst>
              <a:gd name="adj" fmla="val 400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1869948"/>
            <a:ext cx="210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37944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Figma MCP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1488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design context, node details, assets, and references when available.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356616" cy="274320"/>
          </a:xfrm>
          <a:prstGeom prst="roundRect">
            <a:avLst>
              <a:gd name="adj" fmla="val 400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802636"/>
            <a:ext cx="210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77063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Copilot in VS Code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08152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prompt files to guide focused implementation and validation.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3721608"/>
            <a:ext cx="356616" cy="274320"/>
          </a:xfrm>
          <a:prstGeom prst="roundRect">
            <a:avLst>
              <a:gd name="adj" fmla="val 400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3735324"/>
            <a:ext cx="210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033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+ Playwright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01421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live render, set the viewport, measure geometry, and test hover.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4654296"/>
            <a:ext cx="356616" cy="274320"/>
          </a:xfrm>
          <a:prstGeom prst="roundRect">
            <a:avLst>
              <a:gd name="adj" fmla="val 40000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952" y="4668012"/>
            <a:ext cx="210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6360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+ ESLint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94690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Catch TypeScript and code-quality issues before publishing.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1856232"/>
            <a:ext cx="516636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8890">
            <a:solidFill>
              <a:srgbClr val="E4E7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65392" y="215798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 THAT MADE IT RELIABLE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583680" y="2688336"/>
            <a:ext cx="173736" cy="173736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92824" y="2670048"/>
            <a:ext cx="155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9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265176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before code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289864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contract, current implementation, and actual render.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83680" y="3410712"/>
            <a:ext cx="173736" cy="173736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92824" y="3392424"/>
            <a:ext cx="155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9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3374136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facts from mock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36210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unknown chart values labeled as illustrative.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83680" y="4133088"/>
            <a:ext cx="173736" cy="173736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92824" y="4114800"/>
            <a:ext cx="155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9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409651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boundaries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43434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→ hook → service → data; charts consume typed props.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83680" y="4855464"/>
            <a:ext cx="173736" cy="173736"/>
          </a:xfrm>
          <a:prstGeom prst="ellipse">
            <a:avLst/>
          </a:prstGeom>
          <a:solidFill>
            <a:srgbClr val="EAF7EF"/>
          </a:solidFill>
          <a:ln w="12700">
            <a:solidFill>
              <a:srgbClr val="EAF7E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92824" y="4837176"/>
            <a:ext cx="155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9D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903720" y="481888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the target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903720" y="50657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exact dimensions, overflow, assets, and unchanged sections.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WHAT COMES NEXT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4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strong POC is a foundation, not a finished product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2252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visual implementation is in place; production readiness depends on closing data and handoff gaps.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856232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FFF4E5"/>
          </a:solidFill>
          <a:ln w="12700">
            <a:solidFill>
              <a:srgbClr val="FFF4E5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86994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563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01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700784" y="183794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DATA CONTRACT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700784" y="21031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authoritative chart values, units, date semantics, and update cadence.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2715768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272948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02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700784" y="269748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INTENT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700784" y="29626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whether tablet/mobile are required; add Figma variants before implementation.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" y="3575304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58902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03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700784" y="355701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/ FONT SOURCE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700784" y="382219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approved font delivery and icon sources; optimize product images.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3232" y="4434840"/>
            <a:ext cx="804672" cy="256032"/>
          </a:xfrm>
          <a:prstGeom prst="roundRect">
            <a:avLst>
              <a:gd name="adj" fmla="val 42857"/>
            </a:avLst>
          </a:prstGeom>
          <a:solidFill>
            <a:srgbClr val="EEF0FF"/>
          </a:solidFill>
          <a:ln w="12700">
            <a:solidFill>
              <a:srgbClr val="EEF0F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444855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04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700784" y="441655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BEHAVIOR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700784" y="46817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Specify loading, empty/error states, keyboard chart access, and API integration.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19088" y="1856232"/>
            <a:ext cx="4983480" cy="4041648"/>
          </a:xfrm>
          <a:prstGeom prst="roundRect">
            <a:avLst>
              <a:gd name="adj" fmla="val 3846"/>
            </a:avLst>
          </a:prstGeom>
          <a:solidFill>
            <a:srgbClr val="EEF0FF"/>
          </a:solidFill>
          <a:ln w="8890">
            <a:solidFill>
              <a:srgbClr val="DCE1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48272" y="2176272"/>
            <a:ext cx="164592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21424" y="2189988"/>
            <a:ext cx="1499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PLAYBOOK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6748272" y="2724912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4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→ inspect →\ncontract → implement\n→ measure → refine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4242816"/>
            <a:ext cx="40416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65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useful AI workflow is specific, staged, and checked against evidence.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66560" y="4983480"/>
            <a:ext cx="4160520" cy="0"/>
          </a:xfrm>
          <a:prstGeom prst="line">
            <a:avLst/>
          </a:prstGeom>
          <a:noFill/>
          <a:ln w="12700">
            <a:solidFill>
              <a:srgbClr val="D1D7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519379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STATE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7936992" y="5138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38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pushed to the develop branch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552297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37B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design reference</a:t>
            </a:r>
            <a:endParaRPr lang="en-US" sz="800" dirty="0"/>
          </a:p>
        </p:txBody>
      </p:sp>
      <p:sp>
        <p:nvSpPr>
          <p:cNvPr id="30" name="Text 28">
            <a:hlinkClick r:id="rId1" tooltip=""/>
          </p:cNvPr>
          <p:cNvSpPr txBox="1"/>
          <p:nvPr/>
        </p:nvSpPr>
        <p:spPr>
          <a:xfrm>
            <a:off x="8458200" y="54772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u="sng" dirty="0">
                <a:solidFill>
                  <a:srgbClr val="5A67B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Figma dashboard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68328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8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206240" cy="4206240"/>
          </a:xfrm>
          <a:prstGeom prst="ellipse">
            <a:avLst/>
          </a:prstGeom>
          <a:solidFill>
            <a:srgbClr val="252E5D">
              <a:alpha val="85000"/>
            </a:srgbClr>
          </a:solidFill>
          <a:ln w="12700">
            <a:solidFill>
              <a:srgbClr val="252E5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3913632"/>
            <a:ext cx="2651760" cy="2651760"/>
          </a:xfrm>
          <a:prstGeom prst="ellipse">
            <a:avLst/>
          </a:prstGeom>
          <a:solidFill>
            <a:srgbClr val="5A67BA">
              <a:alpha val="78000"/>
            </a:srgbClr>
          </a:solidFill>
          <a:ln w="12700">
            <a:solidFill>
              <a:srgbClr val="5A67B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005840"/>
            <a:ext cx="7589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intent,\nengineering discipline,\nAI-assisted delivery.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7588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C6CF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approach for the next screen.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645152"/>
            <a:ext cx="1042416" cy="301752"/>
          </a:xfrm>
          <a:prstGeom prst="roundRect">
            <a:avLst>
              <a:gd name="adj" fmla="val 36364"/>
            </a:avLst>
          </a:prstGeom>
          <a:solidFill>
            <a:srgbClr val="252E46"/>
          </a:solidFill>
          <a:ln w="12700">
            <a:solidFill>
              <a:srgbClr val="252E46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4658868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6C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FIGMA FILE</a:t>
            </a:r>
            <a:endParaRPr lang="en-US" sz="800" dirty="0"/>
          </a:p>
        </p:txBody>
      </p:sp>
      <p:sp>
        <p:nvSpPr>
          <p:cNvPr id="8" name="Text 6">
            <a:hlinkClick r:id="rId1" tooltip=""/>
          </p:cNvPr>
          <p:cNvSpPr txBox="1"/>
          <p:nvPr/>
        </p:nvSpPr>
        <p:spPr>
          <a:xfrm>
            <a:off x="2011680" y="46451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 • Community design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3036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AA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19  •  TypeScript  •  Vite  •  Recharts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60527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BAA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with GitHub Copilot in VS Code + Figma MCP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Figma-to-React POC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Figma to React: Dashboard POC</dc:title>
  <dc:subject>Figma-to-React dashboard proof of concept</dc:subject>
  <dc:creator>GitHub Copilot + Figma MCP workflow</dc:creator>
  <cp:lastModifiedBy>GitHub Copilot + Figma MCP workflow</cp:lastModifiedBy>
  <cp:revision>1</cp:revision>
  <dcterms:created xsi:type="dcterms:W3CDTF">2026-10-05T21:36:26Z</dcterms:created>
  <dcterms:modified xsi:type="dcterms:W3CDTF">2026-10-05T21:36:26Z</dcterms:modified>
</cp:coreProperties>
</file>